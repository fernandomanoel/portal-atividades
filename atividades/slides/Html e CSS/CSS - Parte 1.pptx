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módulo de CSS. Mesmo HTML, nova aparência. O style.css já está ligado pelo &lt;link&gt; desde o módulo de HTML. Vamos estilizar tudo, inclusive carrossel, abas e carrinho.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do módulo. Estilizamos de cima para baixo. Cada parte tem um slide de resultado. Reforce o ciclo salvar→ver→ajustar com o Live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Sintaxe do CSS: seletor { propriedade: valor; }. Seletores por classe começam com ponto. Tudo no style.css, já conectado. Mencione que . = classe e # = 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1. Reset e variáveis são a base. box-sizing:border-box evita dor de cabeça com tamanhos. Variáveis centralizam as cores.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2. Flexbox é a estrela do cabeçalho. sticky mantém o menu visível ao rolar. :hover dá feedback nos links.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3. O mesmo .btn serve para links e botões. border-radius alto vira 'pílula'. padding cria a área clicável.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da Parte A. Compare mentalmente com o HTML cru dos módulos anteriores: mesmo conteúdo, aparência profissional.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4. Grid + cards. repeat(3,1fr) = 3 colunas iguais. transition deixa o :hover suave. box-shadow dá profundidade.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5. Duas técnicas: flex transforma a lista em chips; border-collapse + nth-child dão a tabela zebrada com cabeçalho rosa.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6. flex-direction column empilha e alinha o formulário. O rodapé escuro fecha visualmente a página.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da Parte B. A vitrine tomou forma: grid de produtos, chips de categoria, tabela zebrada, formulário estilizado e rodapé escuro.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7. overflow:hidden + trilho flex + slide 100% = mostra 1 slide. Botões absolutos ficam por cima. Sem JS, fica parado no 1º slide — o JS anima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8. Ponto forte: o CSS já resolve o mostrar/esconder (display none/block). O JS depois só move a classe 'ativo' de um painel para outro ao clicar. Ótimo para mostrar a divisão de trabalho CSS↔JS.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9. Tabela do carrinho com bordas só embaixo (mais elegante que a grade completa). O total no tfoot fica em negrito. O JS calculará os valores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da Parte C. Carrossel mostra 1 slide com botões e pontos; abas com a ativa destacada (só 1 painel visível); carrinho estilizado. Tudo estático — o movimento é do 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10. @media aplica regras conforme a largura da tela. É o mesmo CSS reagindo ao tamanho. Peça para redimensionarem a janela.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da Parte D. A mesma loja no celular. Reforce: não é outro site nem outro arquivo — é o @media reagindo à largura.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Checklist de avaliação do módulo CSS. Os erros mais comuns: ponto no seletor e chave/; faltando. Ensine a usar as ferramentas do desenvolvedor (F12) para achar.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Fechamento. HTML (estrutura) + CSS (aparência) prontos. O JS trará o comportamento: cliques, cálculos, troca de abas e slides. Mesmos ganchos criados no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D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 ·  FRONT-END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CSS: dando vida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822960" y="24231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C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Cores, layout e estilo para a loja Aurora Cosméticos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HTML de antes — agora com aparência. Um deck, em 4 partes e 10 etapas.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5074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Arquivo: style.css  ·  já conectado no HTML pela tag &lt;link&gt;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412480" y="1371600"/>
            <a:ext cx="3108960" cy="4114800"/>
          </a:xfrm>
          <a:prstGeom prst="roundRect">
            <a:avLst>
              <a:gd name="adj" fmla="val 2059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595360" y="152704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96528" y="152704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97696" y="152704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81160" y="14538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68512" y="1828800"/>
            <a:ext cx="26517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.produto {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</a:t>
            </a:r>
            <a:pPr algn="l" indent="0" marL="0">
              <a:lnSpc>
                <a:spcPts val="2000"/>
              </a:lnSpc>
              <a:buNone/>
            </a:pP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#fff;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radius:</a:t>
            </a:r>
            <a:pPr algn="l" indent="0" marL="0">
              <a:lnSpc>
                <a:spcPts val="2000"/>
              </a:lnSpc>
              <a:buNone/>
            </a:pP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12px;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.preco {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</a:t>
            </a:r>
            <a:pPr algn="l" indent="0" marL="0">
              <a:lnSpc>
                <a:spcPts val="2000"/>
              </a:lnSpc>
              <a:buNone/>
            </a:pP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var(--rosa);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4 partes do CSS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estilizar de cima para baixo, testando o resultado a cada parte.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FE1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146304" cy="932688"/>
          </a:xfrm>
          <a:prstGeom prst="round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46504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A · Fundamentos e topo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0756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Etapas 1–3: reset e variáveis · cabeçalho · banner e botões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FE1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697480"/>
            <a:ext cx="146304" cy="932688"/>
          </a:xfrm>
          <a:prstGeom prst="roundRect">
            <a:avLst/>
          </a:prstGeom>
          <a:solidFill>
            <a:srgbClr val="B34A73"/>
          </a:solidFill>
          <a:ln w="12700">
            <a:solidFill>
              <a:srgbClr val="B34A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843784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B · Produtos e conteúdo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0120" y="317296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Etapas 4–6: grade e cards · categorias e tabela · formulário e rodapé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FE1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794760"/>
            <a:ext cx="146304" cy="932688"/>
          </a:xfrm>
          <a:prstGeom prst="roundRect">
            <a:avLst/>
          </a:prstGeom>
          <a:solidFill>
            <a:srgbClr val="8A5A74"/>
          </a:solidFill>
          <a:ln w="12700">
            <a:solidFill>
              <a:srgbClr val="8A5A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941064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C · Componentes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60120" y="427024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Etapas 7–9: carrossel · abas · carrinho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FE1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892040"/>
            <a:ext cx="146304" cy="932688"/>
          </a:xfrm>
          <a:prstGeom prst="roundRect">
            <a:avLst/>
          </a:prstGeom>
          <a:solidFill>
            <a:srgbClr val="6A4A5C"/>
          </a:solidFill>
          <a:ln w="12700">
            <a:solidFill>
              <a:srgbClr val="6A4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5038344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D · Responsivo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60120" y="53675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Etapa 10: adaptar a loja para o celular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prática: salve e olhe o navegador a cada etapa. CSS se aprende vendo o efeito na hora.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CSS funciona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escolhe um elemento (seletor) e define propriedades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.preco </a:t>
            </a:r>
            <a:pPr algn="ctr" indent="0" marL="0">
              <a:buNone/>
            </a:pPr>
            <a:r>
              <a:rPr lang="en-US" sz="2800" b="1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pPr algn="ctr" indent="0" marL="0">
              <a:buNone/>
            </a:pPr>
            <a:r>
              <a:rPr lang="en-US" sz="2800" b="1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algn="ctr" indent="0" marL="0">
              <a:buNone/>
            </a:pPr>
            <a:r>
              <a:rPr lang="en-US" sz="2800" b="1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ctr" indent="0" marL="0">
              <a:buNone/>
            </a:pPr>
            <a:r>
              <a:rPr lang="en-US" sz="2800" b="1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#d6336c</a:t>
            </a:r>
            <a:pPr algn="ctr" indent="0" marL="0">
              <a:buNone/>
            </a:pPr>
            <a:r>
              <a:rPr lang="en-US" sz="2800" b="1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3447288" cy="1463040"/>
          </a:xfrm>
          <a:prstGeom prst="roundRect">
            <a:avLst>
              <a:gd name="adj" fmla="val 3750"/>
            </a:avLst>
          </a:prstGeom>
          <a:solidFill>
            <a:srgbClr val="3D2233"/>
          </a:solidFill>
          <a:ln w="12700">
            <a:solidFill>
              <a:srgbClr val="5A3A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3474720"/>
            <a:ext cx="164592" cy="164592"/>
          </a:xfrm>
          <a:prstGeom prst="ellipse">
            <a:avLst/>
          </a:prstGeom>
          <a:solidFill>
            <a:srgbClr val="F191B4"/>
          </a:solidFill>
          <a:ln w="12700">
            <a:solidFill>
              <a:srgbClr val="F191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34015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Seletor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76732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.preco → quais elementos serão afetados (a classe).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1688" y="3246120"/>
            <a:ext cx="3447288" cy="1463040"/>
          </a:xfrm>
          <a:prstGeom prst="roundRect">
            <a:avLst>
              <a:gd name="adj" fmla="val 3750"/>
            </a:avLst>
          </a:prstGeom>
          <a:solidFill>
            <a:srgbClr val="3D2233"/>
          </a:solidFill>
          <a:ln w="12700">
            <a:solidFill>
              <a:srgbClr val="5A3A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3474720"/>
            <a:ext cx="164592" cy="164592"/>
          </a:xfrm>
          <a:prstGeom prst="ellipse">
            <a:avLst/>
          </a:prstGeom>
          <a:solidFill>
            <a:srgbClr val="8FC7E8"/>
          </a:solidFill>
          <a:ln w="12700">
            <a:solidFill>
              <a:srgbClr val="8FC7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34015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Propriedade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36008" y="376732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→ o que muda (cor, tamanho, espaço...).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83296" y="3246120"/>
            <a:ext cx="3447288" cy="1463040"/>
          </a:xfrm>
          <a:prstGeom prst="roundRect">
            <a:avLst>
              <a:gd name="adj" fmla="val 3750"/>
            </a:avLst>
          </a:prstGeom>
          <a:solidFill>
            <a:srgbClr val="3D2233"/>
          </a:solidFill>
          <a:ln w="12700">
            <a:solidFill>
              <a:srgbClr val="5A3A4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57616" y="3474720"/>
            <a:ext cx="164592" cy="164592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13648" y="34015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57616" y="376732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#d6336c → como fica (a cor rosa).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93776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3D2233"/>
          </a:solidFill>
          <a:ln w="12700">
            <a:solidFill>
              <a:srgbClr val="5A3A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9377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escrever: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7C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vai no arquivo style.css, que já está ligado ao HTML pela tag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rel="stylesheet" href="style.css"&gt;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7C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Reset, variáveis e base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A · style.css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040880" cy="4846320"/>
          </a:xfrm>
          <a:prstGeom prst="roundRect">
            <a:avLst>
              <a:gd name="adj" fmla="val 1321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65836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{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margin: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box-sizing: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border-box;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 {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--rosa: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#d6336c;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--rosa-claro: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#ffd6e0;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--creme: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#fff5f7;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--escuro: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#2b2b2b;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font-family: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Arial, sans-serif;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var(--escuro);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var(--creme);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line-height: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1.5;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95528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187452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{ }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seletor universal: zera margens de tudo (reset).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box-sizing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padding e borda não aumentarem o tamanho.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:root + --rosa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de cor, reutilizadas com var().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fonte, cores e o fundo creme da loja.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Cabeçalho com flexbox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A · style.css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040880" cy="4480560"/>
          </a:xfrm>
          <a:prstGeom prst="roundRect">
            <a:avLst>
              <a:gd name="adj" fmla="val 1429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658368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.cabecalho {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flex;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justify-content: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space-between;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align-items: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center;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16px 40px;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#fff;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position: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sticky;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top: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.logo { color: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var(--rosa); font-size: 28px; }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.menu a {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text-decoration: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none;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var(--escuro);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font-weight: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bold;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.menu a: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hover { color: var(--rosa); }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9552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182880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flex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 logo, menu e carrinho na mesma linha.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space-between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empurra os itens para as pontas.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align-items: center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 tudo na vertical.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position: sticky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cabeçalho "gruda" no topo ao rolar.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:hover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a cor do link ao passar o mouse.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Banner e botões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A · style.css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040880" cy="4480560"/>
          </a:xfrm>
          <a:prstGeom prst="roundRect">
            <a:avLst>
              <a:gd name="adj" fmla="val 1429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658368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.banner {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text-align: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center;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80px 20px;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var(--rosa-claro);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.banner h2 { font-size: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42px; }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 {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inline-block;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12px 28px;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var(--rosa);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#fff;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text-decoration: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none;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30px;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cursor: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pointer;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hover { background: var(--rosa-escuro); }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9552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182880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padding: 80px 20px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respiro (altura) ao banner.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border-radius: 30px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deixa o botão totalmente arredondado (pílula).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text-decoration: none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 o sublinhado do link que virou botão.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cursor: pointer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a mãozinha sobre o botão.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da Parte 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topo da loja ganhou vida: cabeçalho fixo, banner rosa e botão em pílula.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94944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E4D6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82496"/>
            <a:ext cx="91440" cy="91440"/>
          </a:xfrm>
          <a:prstGeom prst="ellipse">
            <a:avLst/>
          </a:prstGeom>
          <a:solidFill>
            <a:srgbClr val="E86B6B"/>
          </a:solidFill>
          <a:ln w="12700">
            <a:solidFill>
              <a:srgbClr val="E86B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682496"/>
            <a:ext cx="91440" cy="91440"/>
          </a:xfrm>
          <a:prstGeom prst="ellipse">
            <a:avLst/>
          </a:prstGeom>
          <a:solidFill>
            <a:srgbClr val="E8B54E"/>
          </a:solidFill>
          <a:ln w="12700">
            <a:solidFill>
              <a:srgbClr val="E8B5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0432" y="1682496"/>
            <a:ext cx="91440" cy="91440"/>
          </a:xfrm>
          <a:prstGeom prst="ellipse">
            <a:avLst/>
          </a:prstGeom>
          <a:solidFill>
            <a:srgbClr val="6BC08A"/>
          </a:solidFill>
          <a:ln w="12700">
            <a:solidFill>
              <a:srgbClr val="6BC0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1627632"/>
            <a:ext cx="5852160" cy="219456"/>
          </a:xfrm>
          <a:prstGeom prst="roundRect">
            <a:avLst>
              <a:gd name="adj" fmla="val 50000"/>
            </a:avLst>
          </a:prstGeom>
          <a:solidFill>
            <a:srgbClr val="F3ECEF"/>
          </a:solidFill>
          <a:ln w="12700">
            <a:solidFill>
              <a:srgbClr val="F3EC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16276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aurora-cosmeticos/index.html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94944" y="1938528"/>
            <a:ext cx="68397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1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23544" y="19385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Aurora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54096" y="19385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  Produtos   Sobre   Contato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00216" y="19385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4944" y="2450592"/>
            <a:ext cx="6839712" cy="1371600"/>
          </a:xfrm>
          <a:prstGeom prst="rect">
            <a:avLst/>
          </a:prstGeom>
          <a:solidFill>
            <a:srgbClr val="FFD6E0"/>
          </a:solidFill>
          <a:ln w="12700">
            <a:solidFill>
              <a:srgbClr val="FFD6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2706624"/>
            <a:ext cx="6839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Beleza que revela você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4944" y="3108960"/>
            <a:ext cx="6839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Cosméticos naturais para o seu dia a dia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83280" y="3410712"/>
            <a:ext cx="1463040" cy="320040"/>
          </a:xfrm>
          <a:prstGeom prst="roundRect">
            <a:avLst>
              <a:gd name="adj" fmla="val 51429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34107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produtos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5528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mudou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955280" y="196596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Cabeçalho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branco, com logo rosa e menu alinhado à direita.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centralizado, fundo rosa-claro.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"Ver produtos" em pílula rosa.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 ao HTML puro: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 loja, mesmo conteúdo.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de produtos e cards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B · style.css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040880" cy="4846320"/>
          </a:xfrm>
          <a:prstGeom prst="roundRect">
            <a:avLst>
              <a:gd name="adj" fmla="val 1321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65836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.grade {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grid;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repeat(3, 1fr);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24px;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max-width: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1000px;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 auto;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.produto {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#fff;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12px;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24px;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text-align: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center;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box-shadow: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 4px 12px rgba(0,0,0,0.06);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transition: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transform 0.2s;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.produto: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hover { transform: translateY(-6px); }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.preco { color: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var(--rosa); font-weight: bold; }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552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182880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grid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a grade de produtos.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repeat(3, 1fr)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 colunas iguais.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24px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entre os cards.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box-shadow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sombra que "levanta" o card.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+ :hover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card sobe suavemente ao passar o mouse.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Categorias e tabela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B · style.css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040880" cy="4846320"/>
          </a:xfrm>
          <a:prstGeom prst="roundRect">
            <a:avLst>
              <a:gd name="adj" fmla="val 1321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65836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.categorias ul {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list-style: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none;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flex;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justify-content: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center;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16px;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.categorias li {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#fff;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10px 20px;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20px;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.guia table { border-collapse: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collapse; width: 100%; }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.guia th, .guia td {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1px solid #f0dee7;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12px;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.guia th { background: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var(--rosa); color: #fff; }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.guia tr: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nth-child(even) { background: #fbeef3; }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552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182880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list-style: none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os marcadores da lista.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nas categorias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 uma fileira de "pílulas".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border-collapse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 as bordas da tabela numa linha só.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 rosa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destaca o cabeçalho da tabela.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nth-child(even)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pinta as linhas pares (efeito zebra).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Formulário e rodapé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B · style.css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040880" cy="4389120"/>
          </a:xfrm>
          <a:prstGeom prst="roundRect">
            <a:avLst>
              <a:gd name="adj" fmla="val 1458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65836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.newsletter form {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flex;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flex-direction: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column;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12px;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.newsletter input,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.newsletter textarea {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10px;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1px solid #e4d6de;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8px;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.rodape {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var(--escuro);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#fff;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text-align: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center;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30px;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9552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182880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flex-direction: column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empilha os campos do formulário.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12px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uniforme entre os campos.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border-radius nos campos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cantos arredondados.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rodapé escuro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 --escuro com texto branco centralizado.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da Parte B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em 3 colunas, categorias em pílulas, tabela zebrada, formulário e rodapé prontos.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694944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E4D6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591056"/>
            <a:ext cx="91440" cy="91440"/>
          </a:xfrm>
          <a:prstGeom prst="ellipse">
            <a:avLst/>
          </a:prstGeom>
          <a:solidFill>
            <a:srgbClr val="E86B6B"/>
          </a:solidFill>
          <a:ln w="12700">
            <a:solidFill>
              <a:srgbClr val="E86B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591056"/>
            <a:ext cx="91440" cy="91440"/>
          </a:xfrm>
          <a:prstGeom prst="ellipse">
            <a:avLst/>
          </a:prstGeom>
          <a:solidFill>
            <a:srgbClr val="E8B54E"/>
          </a:solidFill>
          <a:ln w="12700">
            <a:solidFill>
              <a:srgbClr val="E8B5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0432" y="1591056"/>
            <a:ext cx="91440" cy="91440"/>
          </a:xfrm>
          <a:prstGeom prst="ellipse">
            <a:avLst/>
          </a:prstGeom>
          <a:solidFill>
            <a:srgbClr val="6BC08A"/>
          </a:solidFill>
          <a:ln w="12700">
            <a:solidFill>
              <a:srgbClr val="6BC0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1536192"/>
            <a:ext cx="5852160" cy="219456"/>
          </a:xfrm>
          <a:prstGeom prst="roundRect">
            <a:avLst>
              <a:gd name="adj" fmla="val 50000"/>
            </a:avLst>
          </a:prstGeom>
          <a:solidFill>
            <a:srgbClr val="F3ECEF"/>
          </a:solidFill>
          <a:ln w="12700">
            <a:solidFill>
              <a:srgbClr val="F3EC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153619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aurora-cosmeticos/index.html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94944" y="1847088"/>
            <a:ext cx="6839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Nossos produtos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2194560"/>
            <a:ext cx="1981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F0E2E9"/>
            </a:solidFill>
            <a:prstDash val="solid"/>
          </a:ln>
          <a:effectLst>
            <a:outerShdw sx="100000" sy="100000" kx="0" ky="0" algn="bl" rotWithShape="0" blurRad="76200" dist="12700" dir="5400000">
              <a:srgbClr val="D6336C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2331720"/>
            <a:ext cx="198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🧴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14400" y="2852928"/>
            <a:ext cx="198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Sérum Facial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108960"/>
            <a:ext cx="198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Skincare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3291840"/>
            <a:ext cx="198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R$ 89,90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356360" y="3566160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56360" y="35661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24200" y="2194560"/>
            <a:ext cx="1981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F0E2E9"/>
            </a:solidFill>
            <a:prstDash val="solid"/>
          </a:ln>
          <a:effectLst>
            <a:outerShdw sx="100000" sy="100000" kx="0" ky="0" algn="bl" rotWithShape="0" blurRad="76200" dist="12700" dir="5400000">
              <a:srgbClr val="D6336C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124200" y="2331720"/>
            <a:ext cx="198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💄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124200" y="2852928"/>
            <a:ext cx="198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Batom Matte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124200" y="3108960"/>
            <a:ext cx="198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Maquiagem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124200" y="3291840"/>
            <a:ext cx="198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R$ 39,90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566160" y="3566160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35661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34000" y="2194560"/>
            <a:ext cx="1981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F0E2E9"/>
            </a:solidFill>
            <a:prstDash val="solid"/>
          </a:ln>
          <a:effectLst>
            <a:outerShdw sx="100000" sy="100000" kx="0" ky="0" algn="bl" rotWithShape="0" blurRad="76200" dist="12700" dir="5400000">
              <a:srgbClr val="D6336C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334000" y="2331720"/>
            <a:ext cx="198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🧖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5334000" y="2852928"/>
            <a:ext cx="198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Máscara Capilar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34000" y="3108960"/>
            <a:ext cx="198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Cabelos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334000" y="3291840"/>
            <a:ext cx="198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R$ 54,90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775960" y="3566160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75960" y="35661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371600" y="4069080"/>
            <a:ext cx="123444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F0E2E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371600" y="40690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Skincare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88920" y="4069080"/>
            <a:ext cx="123444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F0E2E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788920" y="40690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Maquiagem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06240" y="4069080"/>
            <a:ext cx="123444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F0E2E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206240" y="40690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Cabelos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623560" y="4069080"/>
            <a:ext cx="123444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F0E2E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623560" y="40690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94944" y="5559552"/>
            <a:ext cx="6839712" cy="64008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4944" y="5669280"/>
            <a:ext cx="6839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Cosméticos © 2025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94944" y="5925312"/>
            <a:ext cx="6839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  Facebook   E-mail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95528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Guia rápido (tabela)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955280" y="1920240"/>
            <a:ext cx="1051560" cy="301752"/>
          </a:xfrm>
          <a:prstGeom prst="rect">
            <a:avLst/>
          </a:prstGeom>
          <a:solidFill>
            <a:srgbClr val="D633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01000" y="1920240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9006840" y="1920240"/>
            <a:ext cx="1371600" cy="301752"/>
          </a:xfrm>
          <a:prstGeom prst="rect">
            <a:avLst/>
          </a:prstGeom>
          <a:solidFill>
            <a:srgbClr val="D633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052560" y="192024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10378440" y="1920240"/>
            <a:ext cx="1234440" cy="301752"/>
          </a:xfrm>
          <a:prstGeom prst="rect">
            <a:avLst/>
          </a:prstGeom>
          <a:solidFill>
            <a:srgbClr val="D633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424160" y="1920240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955280" y="2221992"/>
            <a:ext cx="10515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0DEE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19288" y="2221992"/>
            <a:ext cx="941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Oleosa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006840" y="2221992"/>
            <a:ext cx="13716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0DEE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070848" y="2221992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Á. Micelar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0378440" y="2221992"/>
            <a:ext cx="12344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0DEE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442448" y="2221992"/>
            <a:ext cx="1124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2×/dia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955280" y="2523744"/>
            <a:ext cx="1051560" cy="301752"/>
          </a:xfrm>
          <a:prstGeom prst="rect">
            <a:avLst/>
          </a:prstGeom>
          <a:solidFill>
            <a:srgbClr val="FBEEF3"/>
          </a:solidFill>
          <a:ln w="12700">
            <a:solidFill>
              <a:srgbClr val="F0DEE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019288" y="2523744"/>
            <a:ext cx="941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Seca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9006840" y="2523744"/>
            <a:ext cx="1371600" cy="301752"/>
          </a:xfrm>
          <a:prstGeom prst="rect">
            <a:avLst/>
          </a:prstGeom>
          <a:solidFill>
            <a:srgbClr val="FBEEF3"/>
          </a:solidFill>
          <a:ln w="12700">
            <a:solidFill>
              <a:srgbClr val="F0DEE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070848" y="2523744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Hidratante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0378440" y="2523744"/>
            <a:ext cx="1234440" cy="301752"/>
          </a:xfrm>
          <a:prstGeom prst="rect">
            <a:avLst/>
          </a:prstGeom>
          <a:solidFill>
            <a:srgbClr val="FBEEF3"/>
          </a:solidFill>
          <a:ln w="12700">
            <a:solidFill>
              <a:srgbClr val="F0DEE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442448" y="2523744"/>
            <a:ext cx="1124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manhã/noite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955280" y="2825496"/>
            <a:ext cx="10515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0DEE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019288" y="2825496"/>
            <a:ext cx="941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Mista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9006840" y="2825496"/>
            <a:ext cx="13716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0DEE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070848" y="2825496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Sérum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0378440" y="2825496"/>
            <a:ext cx="12344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0DEE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442448" y="2825496"/>
            <a:ext cx="1124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à noite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95528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(formulário)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7955280" y="37947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7955280" y="4032504"/>
            <a:ext cx="32918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4D6D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065008" y="403250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E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nome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7955280" y="447141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7955280" y="4709160"/>
            <a:ext cx="32918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4D6D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065008" y="470916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E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voce@email.com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7955280" y="51480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7955280" y="5385816"/>
            <a:ext cx="32918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D6D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955280" y="6016752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955280" y="601675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Carrossel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C · style.css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040880" cy="4846320"/>
          </a:xfrm>
          <a:prstGeom prst="roundRect">
            <a:avLst>
              <a:gd name="adj" fmla="val 1321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65836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.carrossel {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position: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relative;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max-width: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600px;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40px auto;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overflow: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hidden;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.carrossel-trilho { display: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flex; }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.slide {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min-width: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100%;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40px;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var(--rosa-claro);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.carrossel-btn {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position: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absolute;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top: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55%;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50%;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.anterior { left: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10px; }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.proximo { right: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10px; }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.ponto { width: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10px; height: 10px; border-radius: 50%; }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9552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182880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overflow: hidden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esconde os slides que passam da borda.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trilho: flex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põe os slides em fila horizontal.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min-width 100%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slide ocupa a largura toda.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absolute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 os botões sobre o carrossel.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JS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o 1º slide; o JS fará avançar.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8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Abas — mostrar e esconder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C · style.css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040880" cy="4206240"/>
          </a:xfrm>
          <a:prstGeom prst="roundRect">
            <a:avLst>
              <a:gd name="adj" fmla="val 1522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65836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.abas-barra {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flex;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border-bottom: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2px solid var(--rosa-claro);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.aba {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12px 20px;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none;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none;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cursor: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pointer;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.aba.ativa {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var(--rosa);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font-weight: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bold;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border-bottom: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3px solid var(--rosa);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.painel { display: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none; }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.painel.ativo { display: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block; }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552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182880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.aba.ativa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destaca a aba atual com cor e sublinhado rosa.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none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esconde TODOS os painéis...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.painel.ativo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...e mostra só o que tem a classe "ativo".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Importante!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CSS já mostra 1 painel por vez. O JS só troca a classe "ativo" no clique.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Carrinho — tabela estilizada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C · style.css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040880" cy="4023360"/>
          </a:xfrm>
          <a:prstGeom prst="roundRect">
            <a:avLst>
              <a:gd name="adj" fmla="val 1591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65836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.tabela-carrinho {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100%;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border-collapse: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collapse;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.tabela-carrinho th,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.tabela-carrinho td {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border-bottom: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1px solid #f0dee7;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10px;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text-align: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left;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.tabela-carrinho th { color: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var(--rosa); }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.tabela-carrinho input { width: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50px; }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.tabela-carrinho tfoot td { font-weight: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bold; }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9552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182880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border-bottom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só embaixo: visual leve e limpo.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 em rosa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destaca os títulos das colunas.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50px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deixa o campo de quantidade pequeno.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tfoot em negrito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destaca a linha do total.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da Parte C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componentes ganharam forma. Carrossel, abas e carrinho estilizados (ainda estáticos).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66928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E4D6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591056"/>
            <a:ext cx="91440" cy="91440"/>
          </a:xfrm>
          <a:prstGeom prst="ellipse">
            <a:avLst/>
          </a:prstGeom>
          <a:solidFill>
            <a:srgbClr val="E86B6B"/>
          </a:solidFill>
          <a:ln w="12700">
            <a:solidFill>
              <a:srgbClr val="E86B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591056"/>
            <a:ext cx="91440" cy="91440"/>
          </a:xfrm>
          <a:prstGeom prst="ellipse">
            <a:avLst/>
          </a:prstGeom>
          <a:solidFill>
            <a:srgbClr val="E8B54E"/>
          </a:solidFill>
          <a:ln w="12700">
            <a:solidFill>
              <a:srgbClr val="E8B5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0432" y="1591056"/>
            <a:ext cx="91440" cy="91440"/>
          </a:xfrm>
          <a:prstGeom prst="ellipse">
            <a:avLst/>
          </a:prstGeom>
          <a:solidFill>
            <a:srgbClr val="6BC08A"/>
          </a:solidFill>
          <a:ln w="12700">
            <a:solidFill>
              <a:srgbClr val="6BC0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1536192"/>
            <a:ext cx="4572000" cy="219456"/>
          </a:xfrm>
          <a:prstGeom prst="roundRect">
            <a:avLst>
              <a:gd name="adj" fmla="val 50000"/>
            </a:avLst>
          </a:prstGeom>
          <a:solidFill>
            <a:srgbClr val="F3ECEF"/>
          </a:solidFill>
          <a:ln w="12700">
            <a:solidFill>
              <a:srgbClr val="F3EC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153619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carrossel + indicadores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8680" y="187452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Destaques da semana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417320" y="2258568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D6E0"/>
          </a:solidFill>
          <a:ln w="12700">
            <a:solidFill>
              <a:srgbClr val="FFD6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24231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🧴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1417320" y="3008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Sérum Facial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32826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de desconto esta semana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26080" y="3557016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35570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60120" y="294436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D6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2916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532120" y="294436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D6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2916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154680" y="4087368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74136" y="4087368"/>
            <a:ext cx="118872" cy="118872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93592" y="4087368"/>
            <a:ext cx="118872" cy="118872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6520" y="1463040"/>
            <a:ext cx="507492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4D6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11112" y="1591056"/>
            <a:ext cx="91440" cy="91440"/>
          </a:xfrm>
          <a:prstGeom prst="ellipse">
            <a:avLst/>
          </a:prstGeom>
          <a:solidFill>
            <a:srgbClr val="E86B6B"/>
          </a:solidFill>
          <a:ln w="12700">
            <a:solidFill>
              <a:srgbClr val="E86B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93992" y="1591056"/>
            <a:ext cx="91440" cy="91440"/>
          </a:xfrm>
          <a:prstGeom prst="ellipse">
            <a:avLst/>
          </a:prstGeom>
          <a:solidFill>
            <a:srgbClr val="E8B54E"/>
          </a:solidFill>
          <a:ln w="12700">
            <a:solidFill>
              <a:srgbClr val="E8B54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76872" y="1591056"/>
            <a:ext cx="91440" cy="91440"/>
          </a:xfrm>
          <a:prstGeom prst="ellipse">
            <a:avLst/>
          </a:prstGeom>
          <a:solidFill>
            <a:srgbClr val="6BC08A"/>
          </a:solidFill>
          <a:ln w="12700">
            <a:solidFill>
              <a:srgbClr val="6BC0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0" y="1536192"/>
            <a:ext cx="3977640" cy="219456"/>
          </a:xfrm>
          <a:prstGeom prst="roundRect">
            <a:avLst>
              <a:gd name="adj" fmla="val 50000"/>
            </a:avLst>
          </a:prstGeom>
          <a:solidFill>
            <a:srgbClr val="F3ECEF"/>
          </a:solidFill>
          <a:ln w="12700">
            <a:solidFill>
              <a:srgbClr val="F3EC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52360" y="153619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720840" y="1874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3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12280" y="2240280"/>
            <a:ext cx="1005840" cy="32004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09560" y="1874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098280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Carrinho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720840" y="2276856"/>
            <a:ext cx="4526280" cy="0"/>
          </a:xfrm>
          <a:prstGeom prst="line">
            <a:avLst/>
          </a:prstGeom>
          <a:noFill/>
          <a:ln w="25400">
            <a:solidFill>
              <a:srgbClr val="FFD6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242316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os produtos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720840" y="26974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Veja nossa linha completa de cosméticos.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46520" y="3977640"/>
            <a:ext cx="507492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4D6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611112" y="4105656"/>
            <a:ext cx="91440" cy="91440"/>
          </a:xfrm>
          <a:prstGeom prst="ellipse">
            <a:avLst/>
          </a:prstGeom>
          <a:solidFill>
            <a:srgbClr val="E86B6B"/>
          </a:solidFill>
          <a:ln w="12700">
            <a:solidFill>
              <a:srgbClr val="E86B6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93992" y="4105656"/>
            <a:ext cx="91440" cy="91440"/>
          </a:xfrm>
          <a:prstGeom prst="ellipse">
            <a:avLst/>
          </a:prstGeom>
          <a:solidFill>
            <a:srgbClr val="E8B54E"/>
          </a:solidFill>
          <a:ln w="12700">
            <a:solidFill>
              <a:srgbClr val="E8B54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76872" y="4105656"/>
            <a:ext cx="91440" cy="91440"/>
          </a:xfrm>
          <a:prstGeom prst="ellipse">
            <a:avLst/>
          </a:prstGeom>
          <a:solidFill>
            <a:srgbClr val="6BC08A"/>
          </a:solidFill>
          <a:ln w="12700">
            <a:solidFill>
              <a:srgbClr val="6BC08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15200" y="4050792"/>
            <a:ext cx="3977640" cy="219456"/>
          </a:xfrm>
          <a:prstGeom prst="roundRect">
            <a:avLst>
              <a:gd name="adj" fmla="val 50000"/>
            </a:avLst>
          </a:prstGeom>
          <a:solidFill>
            <a:srgbClr val="F3ECEF"/>
          </a:solidFill>
          <a:ln w="12700">
            <a:solidFill>
              <a:srgbClr val="F3EC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52360" y="405079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 do carrinho (ativa)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766560" y="4343400"/>
            <a:ext cx="19010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667598" y="4343400"/>
            <a:ext cx="9957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663379" y="4343400"/>
            <a:ext cx="7242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387584" y="4343400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Subtotal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720840" y="4636008"/>
            <a:ext cx="4526280" cy="0"/>
          </a:xfrm>
          <a:prstGeom prst="line">
            <a:avLst/>
          </a:prstGeom>
          <a:noFill/>
          <a:ln w="12700">
            <a:solidFill>
              <a:srgbClr val="F0DEE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66560" y="4709160"/>
            <a:ext cx="19010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Sérum Facial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667598" y="4709160"/>
            <a:ext cx="9957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R$ 89,90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635947" y="470916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BFC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35947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387584" y="4709160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R$ 89,90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720840" y="5074920"/>
            <a:ext cx="4526280" cy="0"/>
          </a:xfrm>
          <a:prstGeom prst="line">
            <a:avLst/>
          </a:prstGeom>
          <a:noFill/>
          <a:ln w="12700">
            <a:solidFill>
              <a:srgbClr val="F0DEE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66560" y="5093208"/>
            <a:ext cx="19010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Batom Matte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667598" y="5093208"/>
            <a:ext cx="9957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R$ 39,90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9635947" y="5093208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BFC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35947" y="5093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0387584" y="5093208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R$ 79,80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720840" y="5458968"/>
            <a:ext cx="4526280" cy="0"/>
          </a:xfrm>
          <a:prstGeom prst="line">
            <a:avLst/>
          </a:prstGeom>
          <a:noFill/>
          <a:ln w="12700">
            <a:solidFill>
              <a:srgbClr val="F0DEE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66560" y="5522976"/>
            <a:ext cx="19010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10341864" y="5522976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R$ 169,70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6720840" y="5907024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20840" y="590702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Finalizar compra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10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Responsivo — @media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 · style.css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040880" cy="3657600"/>
          </a:xfrm>
          <a:prstGeom prst="roundRect">
            <a:avLst>
              <a:gd name="adj" fmla="val 1750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65836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(max-width: 700px) {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.cabecalho {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flex-direction: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column;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gap: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10px;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19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.grade {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grid-template-columns: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1fr;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.banner h2 { font-size: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30px; }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552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182880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@media (max-width: 700px)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que valem só em telas pequenas.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flex-direction: column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menu passa a empilhar no celular.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grid-template-columns: 1fr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produtos viram 1 coluna.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menor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título do banner encolhe no celular.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5257800"/>
            <a:ext cx="7040880" cy="868680"/>
          </a:xfrm>
          <a:prstGeom prst="roundRect">
            <a:avLst>
              <a:gd name="adj" fmla="val 6316"/>
            </a:avLst>
          </a:prstGeom>
          <a:solidFill>
            <a:srgbClr val="FFD6E0"/>
          </a:solidFill>
          <a:ln w="12700">
            <a:solidFill>
              <a:srgbClr val="F6C7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25780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arrastando a borda da janela do navegador: ao ficar estreita, o layout muda sozinho. Isso é design responsivo.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da Parte 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celular, a loja se reorganiza: menu empilhado e produtos em uma coluna.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2011680" y="1554480"/>
            <a:ext cx="2377440" cy="457200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4D6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76272" y="1682496"/>
            <a:ext cx="91440" cy="91440"/>
          </a:xfrm>
          <a:prstGeom prst="ellipse">
            <a:avLst/>
          </a:prstGeom>
          <a:solidFill>
            <a:srgbClr val="E86B6B"/>
          </a:solidFill>
          <a:ln w="12700">
            <a:solidFill>
              <a:srgbClr val="E86B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59152" y="1682496"/>
            <a:ext cx="91440" cy="91440"/>
          </a:xfrm>
          <a:prstGeom prst="ellipse">
            <a:avLst/>
          </a:prstGeom>
          <a:solidFill>
            <a:srgbClr val="E8B54E"/>
          </a:solidFill>
          <a:ln w="12700">
            <a:solidFill>
              <a:srgbClr val="E8B5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42032" y="1682496"/>
            <a:ext cx="91440" cy="91440"/>
          </a:xfrm>
          <a:prstGeom prst="ellipse">
            <a:avLst/>
          </a:prstGeom>
          <a:solidFill>
            <a:srgbClr val="6BC08A"/>
          </a:solidFill>
          <a:ln w="12700">
            <a:solidFill>
              <a:srgbClr val="6BC0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80360" y="1627632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F3ECEF"/>
          </a:solidFill>
          <a:ln w="12700">
            <a:solidFill>
              <a:srgbClr val="F3EC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16276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celular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48840" y="1965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Aurora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48840" y="22402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· Produtos · Sobre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084832" y="2542032"/>
            <a:ext cx="2231136" cy="640080"/>
          </a:xfrm>
          <a:prstGeom prst="rect">
            <a:avLst/>
          </a:prstGeom>
          <a:solidFill>
            <a:srgbClr val="FFD6E0"/>
          </a:solidFill>
          <a:ln w="12700">
            <a:solidFill>
              <a:srgbClr val="FFD6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84832" y="2542032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Beleza que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revela você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0" y="329184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0E2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3401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🧴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286000" y="38953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Sérum Facial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0" y="4114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R$ 89,90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0" y="461772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0E2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47274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💄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286000" y="52212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Batom Matte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0" y="5440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R$ 39,90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0" y="1600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muda no celular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120640" y="1965960"/>
            <a:ext cx="6400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empilhado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itens do cabeçalho passam para uma coluna, com mais espaço para o dedo.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em 1 coluna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grid-template-columns: 1fr faz cada card ocupar a largura toda.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menor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título encolhe para caber sem quebrar feio.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arquivo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mesmo style.css — só o bloco @media muda quando a tela é estreita.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Erros comuns e checklist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35024"/>
            <a:ext cx="329184" cy="3291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35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12801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Esquecer o ponto no seletor —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{} não é o mesmo que .produto {}.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975104"/>
            <a:ext cx="329184" cy="3291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19202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Faltou fechar } ou ; —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chave ou ponto e vírgula quebra o resto do CSS.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615184"/>
            <a:ext cx="329184" cy="3291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25603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não aparece —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o &lt;link&gt; e o nome do arquivo style.css.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255264"/>
            <a:ext cx="329184" cy="3291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32004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 não muda —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 regra mais específica pode estar vencendo.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895344"/>
            <a:ext cx="329184" cy="3291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895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38404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@media sem unidade —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max-width: 700px, não 700.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92240" y="1234440"/>
            <a:ext cx="5029200" cy="4709160"/>
          </a:xfrm>
          <a:prstGeom prst="roundRect">
            <a:avLst>
              <a:gd name="adj" fmla="val 1553"/>
            </a:avLst>
          </a:prstGeom>
          <a:solidFill>
            <a:srgbClr val="3D2233"/>
          </a:solidFill>
          <a:ln w="12700">
            <a:solidFill>
              <a:srgbClr val="5A3A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do CSS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766560" y="1874520"/>
            <a:ext cx="4572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reset e variáveis (:root)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cabeçalho em flex e sticky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banner e botão em pílula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grade de produtos (grid)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cards com sombra e hover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categorias em chips (flex)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tabela zebrada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formulário e rodapé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carrossel com overflow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abas: 1 painel por vez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carrinho estilizado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@media para o celular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E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Loja estilizada!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7C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HTML tem estrutura e agora o CSS deu aparência. Falta só o comportamento.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3D2233"/>
          </a:solidFill>
          <a:ln w="12700">
            <a:solidFill>
              <a:srgbClr val="5A3A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395728"/>
            <a:ext cx="329184" cy="3291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395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219456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completo  —  </a:t>
            </a:r>
            <a:pPr indent="0" marL="0">
              <a:buNone/>
            </a:pPr>
            <a:r>
              <a:rPr lang="en-US" sz="140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cabeçalho, banner, grade, tabela, formulário e rodapé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063240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3D2233"/>
          </a:solidFill>
          <a:ln w="12700">
            <a:solidFill>
              <a:srgbClr val="5A3A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3264408"/>
            <a:ext cx="329184" cy="3291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264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00200" y="306324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com estilo  —  </a:t>
            </a:r>
            <a:pPr indent="0" marL="0">
              <a:buNone/>
            </a:pPr>
            <a:r>
              <a:rPr lang="en-US" sz="140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carrossel, abas e carrinho prontos visualmente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931920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3D2233"/>
          </a:solidFill>
          <a:ln w="12700">
            <a:solidFill>
              <a:srgbClr val="5A3A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4133088"/>
            <a:ext cx="329184" cy="3291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393192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responsivo  —  </a:t>
            </a:r>
            <a:pPr indent="0" marL="0">
              <a:buNone/>
            </a:pPr>
            <a:r>
              <a:rPr lang="en-US" sz="140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loja se adapta ao celular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502920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502920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módulo · JavaScript:  </a:t>
            </a:r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FF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carrinho que soma ao clicar, o carrossel que desliza e as abas que trocam de verdade.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2026-07-28T19:39:32Z</dcterms:created>
  <dcterms:modified xsi:type="dcterms:W3CDTF">2026-07-28T19:39:32Z</dcterms:modified>
</cp:coreProperties>
</file>