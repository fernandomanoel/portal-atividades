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de HTML. Toda a estrutura da loja será construída aqui, sem CSS ainda. O objetivo é dominar as tags e a organização da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mapa das etapas de HTML. Reforçar que não haverá cor/layout ainda; o foco é a estrutura correta.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conceitual antes de escrever. Peça para a turma apontar as 4 partes em outra tag. Explique as tags vazias, que aparecerão nas etapas de imagem e formulário.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1. É o template: todo arquivo começa assim. O &lt;link&gt; já prepara o CSS do próximo módulo. Peça para digitarem, não copiarem.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aqui é o título na aba. Nada mais aparece — normal. A partir da etapa 2 o corpo começa a ganhar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2. Diferencie header (topo) de &lt;h1&gt; (título). Explique âncoras: href com # aponta para um id na mesma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3. &lt;main&gt; abre agora e permanece aberto durante várias etapas. Marque isso no quadro para não confundirem o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menu e o banner já existem, mas sem estilo. Mostre que os links funcionam (clicar em 'Início' rola a página).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4. Semântica do texto: strong/em têm significado, não são só 'negrito/itálico'. br e hr são tags vazias.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5. Anatomia de um card. article é semântico (conteúdo autônomo). A foto é emoji agora; troca por &lt;img&gt; na etapa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6. O poder do padrão: mesma estrutura repetida. Peça os 6 cards. Ainda ficam empilhados (sem grid, que é CSS).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 que strong/em mudaram o texto e que o hr virou uma linha. Os cards ainda não estão em colunas — isso é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7. ul x ol: marcadores vs números. Cada item é um li. Ótimo momento para pedir que troquem ul por ol e observem.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8. img é tag vazia; src aponta o arquivo, alt descreve. Se não tiverem fotos, mantenham o emoji — o card já funciona. Fale de acessibilidade: leitores de tela leem o 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9. Estrutura de tabela: linhas (tr) contêm células (th no cabeçalho, td nos dados). thead/tbody organizam.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atenção: a tabela sem CSS não tem bordas — é comum o aluno achar que 'deu errado'. Explique que as bordas são estilo (CSS).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10. Ligue label ao input pelo for/id. Comente os tipos de input. O select de assunto está no arquivo final (mostre se houver tempo).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11. Feche o main antes do footer. HTML semântico: header/main/section/article/footer descrevem o papel de cada bloco — melhor para SEO e acessibilidade.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controles do formulário aparecem mesmo sem CSS, porque o navegador os desenha. O rodapé encerra 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 a árvore da página. Cada aluno deve ter esta estrutura. Guarde o arquivo: ele será a base dos próximos módulos.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checklist como avaliação da entrega do módulo de HTML. Os erros comuns cobrem 90% dos problemas que aparecem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Recapitule e mostre o caminho: CSS, depois JS, depois SQL. Mesmo formato de slides passo 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 ·  FRONT-END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HTML: a estrutura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a página da loja Aurora Cosméticos — passo a passo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etapas dedicadas só ao HTML. CSS, JavaScript e SQL virão nos próximos módulos, cada um no seu tempo.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Ambiente: VS Code  ·  Público: iniciantes  ·  Digite o código de cada etapa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3108960" cy="4114800"/>
          </a:xfrm>
          <a:prstGeom prst="roundRect">
            <a:avLst>
              <a:gd name="adj" fmla="val 20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0" y="152704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96528" y="152704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97696" y="152704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453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68512" y="1828800"/>
            <a:ext cx="2651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Aurora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12 etapas do HTML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acrescenta um bloco visível à página. Ao final, a estrutura estará completa.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10512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·  Estrutura base do documento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·  Cabeçalho e navegação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·  Banner de destaque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·  Seção "Sobre": títulos e texto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·  Card de produto (anatomia)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·  Grade de produtos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810512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 ·  Listas (categorias)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 ·  Imagens (img, src, alt)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 ·  Tabela (guia de cuidados)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·  Formulário (newsletter)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·  Rodapé e HTML semântico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·  Página completa + revisão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89788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Lembrete: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é só HTML — a página vai parecer "crua". A beleza vem no módulo de CSS.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HTML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página é feita de tags — e todas seguem o mesmo padrão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 </a:t>
            </a:r>
            <a:pPr algn="ctr" indent="0" marL="0">
              <a:buNone/>
            </a:pPr>
            <a:r>
              <a:rPr lang="en-US" sz="3000" b="1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class="nome"</a:t>
            </a:r>
            <a:pPr algn="ctr" indent="0" marL="0">
              <a:buNone/>
            </a:pPr>
            <a:r>
              <a:rPr lang="en-US" sz="3000" b="1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Sérum Facial</a:t>
            </a:r>
            <a:pPr algn="ctr" indent="0" marL="0">
              <a:buNone/>
            </a:pPr>
            <a:r>
              <a:rPr lang="en-US" sz="3000" b="1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611880"/>
            <a:ext cx="164592" cy="164592"/>
          </a:xfrm>
          <a:prstGeom prst="ellipse">
            <a:avLst/>
          </a:prstGeom>
          <a:solidFill>
            <a:srgbClr val="6FB7E8"/>
          </a:solidFill>
          <a:ln w="12700">
            <a:solidFill>
              <a:srgbClr val="6FB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de abertura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&lt;h3&gt; inicia o elemento.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33832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3611880"/>
            <a:ext cx="164592" cy="164592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85032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class="nome" dá informações extras.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361188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3952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que aparece na tela.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06840" y="33832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62872" y="3611880"/>
            <a:ext cx="164592" cy="164592"/>
          </a:xfrm>
          <a:prstGeom prst="ellipse">
            <a:avLst/>
          </a:prstGeom>
          <a:solidFill>
            <a:srgbClr val="6FB7E8"/>
          </a:solidFill>
          <a:ln w="12700">
            <a:solidFill>
              <a:srgbClr val="6FB7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de fechamento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62872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&lt;/h3&gt; encerra, com a barra /.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=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+ conteúdo + fechamento.  Algumas tags são vazias e não têm fechamento: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&lt;img&gt;, &lt;br&gt;, &lt;hr&gt;, &lt;input&gt;.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base do documento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index.html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892040"/>
          </a:xfrm>
          <a:prstGeom prst="roundRect">
            <a:avLst>
              <a:gd name="adj" fmla="val 1308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"pt-br"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name="viewport"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content="width=device-width, initial-scale=1.0"&gt;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name="description"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content="Aurora Cosméticos - beleza natural"&gt;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 Cosméticos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"style.css"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todo o conteúdo visível entra aqui --&gt;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&lt;!DOCTYPE html&gt;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que é um documento HTML5.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da página (não aparecem na tela).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 / viewport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acentos corretos e adaptação ao celular.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que o Google mostra nos resultados.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todo o conteúdo visível vai entrar.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etapa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está em branco — só o título aparece na aba do navegador. É exatamente o esperado.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3ECEF"/>
          </a:solidFill>
          <a:ln w="12700">
            <a:solidFill>
              <a:srgbClr val="E4D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0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Aurora Cosméticos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956816"/>
            <a:ext cx="667512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5681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B0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(página em branco)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"Aurora Cosméticos" — veio do &lt;title&gt;.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vazio porque o &lt;body&gt; só tem um comentário.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conteúdo dentro do &lt;body&gt;.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 e navegação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&lt;body&gt;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617720"/>
          </a:xfrm>
          <a:prstGeom prst="roundRect">
            <a:avLst>
              <a:gd name="adj" fmla="val 1386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class=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"cabecalho"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"logo"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"menu"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"#inicio"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"#produtos"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"#sobre"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"#contato"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"carrinho"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🛒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id=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"contador"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topo da página; agrupa logo e menu.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título mais importante — só um por página.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 + &lt;a&gt;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navegação: cada &lt;a&gt; é um link.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href="#inicio"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âncora: rola até o bloco com id="inicio".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 id="contador"&gt;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onde o JS mostrará o número (depois).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de destaque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&lt;/header&gt;, abra o &lt;main&gt;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023360"/>
          </a:xfrm>
          <a:prstGeom prst="roundRect">
            <a:avLst>
              <a:gd name="adj" fmla="val 159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"banner"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"inicio"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Beleza que revela você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Cosméticos naturais para o seu dia a dia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"#produtos"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 produtos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&lt;main&gt;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 o conteúdo principal da página.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&lt;section&gt;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bloco de assunto (aqui, o banner).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id="inicio"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alvo do link "Início" do menu.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&lt;h2&gt; e &lt;p&gt;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 e parágrafo do destaque.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class="btn"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um botão bonito no módulo de CSS.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7040880" cy="594360"/>
          </a:xfrm>
          <a:prstGeom prst="roundRect">
            <a:avLst>
              <a:gd name="adj" fmla="val 9231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o &lt;main&gt; abre aqui e só fecha lá no fim (etapa 11). Cuidado para não fechá-lo antes.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das etapas 2 e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o conteúdo aparece — ainda sem cor nem layout.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Aurora</a:t>
            </a:r>
            <a:endParaRPr lang="en-US" sz="2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u="sng" dirty="0">
                <a:solidFill>
                  <a:srgbClr val="1A0D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Início Produtos Sobre Contato</a:t>
            </a:r>
            <a:endParaRPr lang="en-US" sz="2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🛒 0</a:t>
            </a:r>
            <a:endParaRPr lang="en-US" sz="2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Beleza que revela você</a:t>
            </a:r>
            <a:endParaRPr lang="en-US" sz="2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Cosméticos naturais para o seu dia a dia</a:t>
            </a:r>
            <a:endParaRPr lang="en-US" sz="2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1A0D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 produtos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e menu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topo, em texto puro.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azuis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sublinhados: aparência padrão do &lt;a&gt;.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empilhado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cima para baixo, sem colunas.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cor de fundo: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CSS cuidará disso depois.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"Sobre": títulos e texto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dentro de &lt;main&gt;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297680"/>
          </a:xfrm>
          <a:prstGeom prst="roundRect">
            <a:avLst>
              <a:gd name="adj" fmla="val 148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"sobre"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"sobre"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 a Aurora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Somos uma marca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brasileira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cosméticos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veganos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livres de crueldade.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Ingredientes naturais e embalagens recicláveis.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Beleza consciente, do início ao fim.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&lt;strong&gt;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negrito + indica importância.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&lt;em&gt;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itálico + indica ênfase.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linha (tag vazia).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&lt;hr&gt;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divisória entre assuntos.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tag pelo significado, não pela aparência.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de produto (anatomia)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seção de produtos e o primeiro card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709160"/>
          </a:xfrm>
          <a:prstGeom prst="roundRect">
            <a:avLst>
              <a:gd name="adj" fmla="val 13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"produtos"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"produtos"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"titulo-secao"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Nossos produtos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"grade"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"produto"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🧴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Sérum Facial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"categoria"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Skincare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"preco"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R$ 89,90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"btn-add"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&lt;article&gt;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conteúdo independente: o produto.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 class="grade"&gt;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caixa que vai alinhar os cards depois.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 class="foto"&gt;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 imagem — por ora, um emoji.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&lt;h3&gt; / &lt;p&gt;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categoria e preço.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que o JavaScript ativará no futuro.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de produtos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o &lt;article&gt; dentro de &lt;div class="grade"&gt;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297680"/>
          </a:xfrm>
          <a:prstGeom prst="roundRect">
            <a:avLst>
              <a:gd name="adj" fmla="val 148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copie o card e troque só os dados --&gt;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"produto"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💄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Batom Matte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"categoria"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Maquiagem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"preco"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R$ 39,90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"btn-add"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+ Máscara 🧖 · Água 💧 · Paleta 🎨 · Creme 🫧 --&gt;</a:t>
            </a:r>
            <a:endParaRPr lang="en-US" sz="12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total: 6 cards --&gt;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7452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que se repete: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&lt;article&gt; = 1 produto.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e cole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e troque emoji, nome, categoria e preço.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produtos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total, todos dentro da mesma &lt;div class="grade"&gt;.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mesma estrutura ajuda o CSS depois.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das etapas 4 a 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"Sobre" e os produtos aparecem — empilhados, um embaixo do outro.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Sobre a Aurora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Somos uma marca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brasileira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 cosméticos </a:t>
            </a:r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veganos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630936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7180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Nossos produtos</a:t>
            </a:r>
            <a:endParaRPr lang="en-US" sz="1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🧴</a:t>
            </a:r>
            <a:endParaRPr lang="en-US" sz="1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Sérum Facial</a:t>
            </a:r>
            <a:endParaRPr lang="en-US" sz="1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Skincare — R$ 89,90</a:t>
            </a:r>
            <a:endParaRPr lang="en-US" sz="16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🧖  Máscara Capilar — Cabelos — R$ 54,90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"brasileira"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negrito (&lt;strong&gt;) e "veganos" em itálico (&lt;em&gt;).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 é o &lt;hr&gt;.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empilhados: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grid do CSS, ficam um sob o outro.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Listas: categorias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nova &lt;section&gt; dentro de &lt;main&gt;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675120" cy="3749040"/>
          </a:xfrm>
          <a:prstGeom prst="roundRect">
            <a:avLst>
              <a:gd name="adj" fmla="val 1707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217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"categorias"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Skincare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Maquiagem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Cabelos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8952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0" y="18745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não ordenada (com marcadores •).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ordenada (numerada: 1, 2, 3...).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da lista.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categorias, benefícios, passos.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Imagens: img, src e alt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Trocando o emoji por uma foto de verdade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035040" cy="2926080"/>
          </a:xfrm>
          <a:prstGeom prst="roundRect">
            <a:avLst>
              <a:gd name="adj" fmla="val 2188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5577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dentro do card, no lugar do emoji: --&gt;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src="img/serum.jpg"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alt="Sérum facial Aurora"&gt;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tag vazia (não tem fechamento).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do arquivo da imagem.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img/serum.jpg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pasta img/ dentro do projeto.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descrição: acessibilidade + aparece se a foto falhar.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aparece: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920240"/>
            <a:ext cx="45720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14032" y="204825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204825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204825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1993392"/>
            <a:ext cx="347472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9933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63840" y="2606040"/>
            <a:ext cx="2743200" cy="1828800"/>
          </a:xfrm>
          <a:prstGeom prst="rect">
            <a:avLst/>
          </a:prstGeom>
          <a:solidFill>
            <a:srgbClr val="F0EAED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🖼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8638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0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(foto do produto)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452628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Sérum Facial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R$ 89,90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Tabela: guia de cuidados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&lt;section&gt; com uma &lt;table&gt;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400800" cy="4754880"/>
          </a:xfrm>
          <a:prstGeom prst="roundRect">
            <a:avLst>
              <a:gd name="adj" fmla="val 1346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59436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"guia"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Guia rápido de cuidados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de pele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 indicado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&lt;/thead&gt;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&lt;tbody&gt;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Oleosa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Água Micelar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 ao dia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+ linhas: Seca e Mista --&gt;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&lt;/tbody&gt;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1874520"/>
            <a:ext cx="4297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&lt;table&gt;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tabela.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&lt;thead&gt; / &lt;tbody&gt;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e corpo da tabela.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&lt;tr&gt;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(table row).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cabeçalho (negrito).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&lt;td&gt;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dado (table data).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das etapas 7 a 9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 marcadores e a tabela em texto puro — sem bordas, porque ainda não há CSS.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350008"/>
            <a:ext cx="2743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Skincare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Maquiagem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Cabelos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Corpo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Guia rápido de cuidados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Tipo de pele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4069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Produto indicado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0690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Frequência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3251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Oleosa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4325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Água Micelar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43251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2× ao dia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562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45628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Creme Hidratante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45628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Manhã e noite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800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4800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Sérum Facial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4800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À noite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com marcadores (•) automáticos.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texto alinhado, mas SEM linhas.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CSS a tabela não tem bordas. As linhas virão com CSS.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Formulário: newsletter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&lt;section&gt; com um &lt;form&gt;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675120" cy="4800600"/>
          </a:xfrm>
          <a:prstGeom prst="roundRect">
            <a:avLst>
              <a:gd name="adj" fmla="val 1333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"newsletter"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"contato"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 nossas novidades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type="text" id="nome"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placeholder="Seu nome"&gt;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E-mail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type="email" id="email"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placeholder="voce@email.com"&gt;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"msg"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 id=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"msg"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&lt;/textarea&gt;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type=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1874520"/>
            <a:ext cx="4297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os campos do formulário.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 for="nome"&gt;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ligado ao campo pelo id.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type=...&gt;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email... muda teclado e validação.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texto-dica dentro do campo.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&lt;textarea&gt;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longo.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o formulário (+ há um &lt;select&gt; no arquivo).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Rodapé e HTML semântico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Feche o &lt;main&gt; e adicione o &lt;footer&gt;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309360" cy="3657600"/>
          </a:xfrm>
          <a:prstGeom prst="roundRect">
            <a:avLst>
              <a:gd name="adj" fmla="val 1750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5852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"rodape"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 Cosméticos © 2025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"redes"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href="https://instagram.com"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target="_blank"&gt;Instagram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"mailto:contato@aurora.com"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E-mail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088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1828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rodapé; fecha a página.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link em uma nova aba.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programa de e-mail do usuário.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408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semântica da página: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3794760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4233672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3D2233"/>
          </a:solidFill>
          <a:ln w="12700">
            <a:solidFill>
              <a:srgbClr val="3D22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4233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4672584"/>
            <a:ext cx="4206240" cy="365760"/>
          </a:xfrm>
          <a:prstGeom prst="roundRect">
            <a:avLst>
              <a:gd name="adj" fmla="val 12500"/>
            </a:avLst>
          </a:prstGeom>
          <a:solidFill>
            <a:srgbClr val="8A5A74"/>
          </a:solidFill>
          <a:ln w="12700">
            <a:solidFill>
              <a:srgbClr val="8A5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4672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 (banner, sobre, produtos...)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5111496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A67C93"/>
          </a:solidFill>
          <a:ln w="12700">
            <a:solidFill>
              <a:srgbClr val="A67C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51114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  (cada produto)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5550408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5550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das etapas 10 e 11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formulário usa os campos nativos do navegador; o rodapé fecha a página.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Receba nossas novidades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596896"/>
            <a:ext cx="276514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96896"/>
            <a:ext cx="2673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Seu nome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E-mail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218688"/>
            <a:ext cx="276514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218688"/>
            <a:ext cx="2673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voce@email.com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Mensagem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840480"/>
            <a:ext cx="27651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517136"/>
            <a:ext cx="914400" cy="310896"/>
          </a:xfrm>
          <a:prstGeom prst="rect">
            <a:avLst/>
          </a:prstGeom>
          <a:solidFill>
            <a:srgbClr val="E4E4E4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517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532120"/>
            <a:ext cx="630936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235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Aurora Cosméticos © 2025    </a:t>
            </a:r>
            <a:pPr indent="0" marL="0">
              <a:buNone/>
            </a:pPr>
            <a:r>
              <a:rPr lang="en-US" sz="1100" u="sng" dirty="0">
                <a:solidFill>
                  <a:srgbClr val="1A0D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Instagram  Facebook  E-mail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borda cinza: o visual padrão do navegador.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cada campo (&lt;label&gt;).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© e os links das redes.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funcional,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faltando só o estilo (próximo módulo).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completo!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da loja está pronta. Esta é a organização final do seu index.html.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4617720"/>
          </a:xfrm>
          <a:prstGeom prst="roundRect">
            <a:avLst>
              <a:gd name="adj" fmla="val 1386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0992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70992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170992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6367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do index.html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011680"/>
            <a:ext cx="5577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head   → título, metas, link do CSS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body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header   → logo + nav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main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├─ section  banner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├─ section  sobre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├─ section  produtos → article ×6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├─ section  categorias → ul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├─ section  guia → table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└─ section  newsletter → form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footer   → © + redes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script.js no fim do body --&gt;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554480"/>
            <a:ext cx="4572000" cy="461772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1403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1627632"/>
            <a:ext cx="347472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627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178040" y="2057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Aurora    Início Produtos Sobre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804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Beleza que revela você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28254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Sobre a Aurora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32095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Nossos produtos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3593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🧴 Sérum  💄 Batom  🧖 Máscara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3977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Categorias: • Skincare •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4361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Guia (tabela)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47457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Newsletter (formulário)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8040" y="5129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Aurora © 2025 · redes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em HTML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16736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não fechada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abriu &lt;p&gt; e esqueceu &lt;/p&gt;.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847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Acentos estranhos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&lt;meta charset="UTF-8"&gt;.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4140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não aparece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errado no src ou fora da pasta img/.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980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&lt;label&gt; sem for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conecta ao campo do formulário.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84448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547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repetido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id deve ser único na página.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151376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Fechou o &lt;main&gt; cedo — 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ficam fora do lugar.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1234440"/>
            <a:ext cx="5029200" cy="4663440"/>
          </a:xfrm>
          <a:prstGeom prst="roundRect">
            <a:avLst>
              <a:gd name="adj" fmla="val 1569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 HTML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Estrutura base (DOCTYPE, head, body)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header com logo e nav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main envolvendo as seções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banner e seção sobre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6 produtos em &lt;article&gt;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lista (ul/li) de categorias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tabela com thead e tbody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imagens com alt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formulário com labels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footer com redes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tudo indentado e fechado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do módulo HTML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construiu toda a estrutura da loja. Guarde o index.html — ele é a base de tudo que vem a seguir.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487168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CSS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22860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fontes, layout em grade e versão para celular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538728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8A5A74"/>
          </a:solidFill>
          <a:ln w="12700">
            <a:solidFill>
              <a:srgbClr val="8A5A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38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JavaScript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33375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que soma ao clicar em "Adicionar"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590288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6A4A5C"/>
          </a:solidFill>
          <a:ln w="12700">
            <a:solidFill>
              <a:srgbClr val="6A4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90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 · 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43891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dados com produtos, clientes e pedidos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Faremos cada módulo por etapa, no mesmo formato desta aula.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2026-07-27T20:52:38Z</dcterms:created>
  <dcterms:modified xsi:type="dcterms:W3CDTF">2026-07-27T20:52:38Z</dcterms:modified>
</cp:coreProperties>
</file>